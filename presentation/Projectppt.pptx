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7" r:id="rId9"/>
    <p:sldId id="268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8"/>
    <a:srgbClr val="F66C43"/>
    <a:srgbClr val="FFFFFF"/>
    <a:srgbClr val="FFEBEB"/>
    <a:srgbClr val="ECEAE6"/>
    <a:srgbClr val="F4ECEC"/>
    <a:srgbClr val="FFFFCC"/>
    <a:srgbClr val="E5E5E5"/>
    <a:srgbClr val="E85C3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969DC-8E2D-4B2F-A068-1A5406E859FE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B6AF3-FFEE-4A8A-91D0-146E7C8D1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6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25D4-D69D-2B8A-3033-7A82CA57C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402F3-875F-5888-1F0F-9D107C70A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94B13-22C1-8714-7174-0D3E3362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68FF4-BF39-408C-7157-1244284C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35D5D-29F0-D90A-776C-0EA1CB43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6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79D0-C079-2C71-0F3B-A4C6765F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744B0-09F8-EF2A-017F-26452EE8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0608A-3221-8067-0848-8209EC71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6846-6350-1AEB-F9ED-928D5730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6678E-A44E-6642-7BE6-247CF723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52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D48E-90B4-A891-BA4A-36485ADE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41989-3B27-6486-459A-82362666A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1B0D3-101B-462D-B6C2-424B06EC5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2B60A-0F39-9CF9-B0A2-5114443F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C18A1-34C4-380A-7717-D5E2A7B5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9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26E5-6EFC-22DC-CAE3-A14D6C22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4DE5-B619-2E2E-5336-E29F8B4E5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3232C-6BD2-7AF8-C8F8-5D19AEDDB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A8040-2F47-874B-ED4E-82F79123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4246-AFB1-CC6D-DFE3-4136EB63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B0704-A4C4-E2B9-1A5A-239A0A31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21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A9CB-3342-75DF-CEF5-5418B50A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AD084-141E-2665-CAD7-60A576507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46744-D78E-00B6-604E-7FEE916BE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E1246-2E5B-1A30-F6E5-C7EE00156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0D0B1-F118-9B93-1966-05260707C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5E825-EC26-F01B-3B5C-3CE7E842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F9241-B797-E3F5-B337-698478C8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E1A75-3FA9-598A-E50A-D5AACDBB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5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DE80-C7C1-C7C2-02AC-C9A81794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8A5D1-68B5-979A-E6D6-5F2DF9D8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D94E7-849D-85F7-443A-CA341123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C5A5E-9BB7-AF77-C50A-3C6A50DF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23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59F767-516E-B09D-3D14-CF4ABB79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86334-20C9-7BCA-E601-E53D135B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3AD5B-F8DF-FDDE-C18A-55868129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1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90E0-B5BD-402D-6A62-D49B0403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5C89-086C-0888-C337-CA475B883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61C86-FF73-E818-90D5-90A76F1A0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BB57A-012E-5B79-691C-9D31053E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F58C4-9993-1C81-CE68-F37213CA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68D6B-6C64-4FCC-6F0C-7C123F6B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5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5FEF-87F0-308D-7750-7EA99FB1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F8799-5FA8-7D75-973D-473F48ACD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04A43-511E-A0F0-DD2D-30B299910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C44F9-72A2-ADC4-C3E1-5BE3C151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5090C-667A-AC87-F27D-8867997C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FA855-E342-7D42-10A2-7ACF6B28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13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F910-394A-3F12-77D9-0CFF6066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7FA65-82A6-E6E8-FC96-C08671D6E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C6DCF-2B72-A1DF-B228-EBB80344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BDC85-A324-B464-BD0C-33FEDCBC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04A6E-02E6-21D0-063D-2BE1938C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2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065DF2-C9D5-6C26-7545-ABEED1914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8DF3F-B3F8-5E90-8D9B-52B1C5771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6E016-9247-3A22-C701-5BE88576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DAC5E-C053-632D-0598-028D5D41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12F78-135C-BB9F-E49B-22E27CE7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80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05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44347-60B6-5662-FC8A-D574D9F7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55DC7-4983-6FF5-62C9-9114B7C38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B61E-184A-F8FC-6EF7-1C7CD8782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BA38A-3F40-407A-A628-C50E5F172D8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96780-DFF3-DEE0-B1D0-380B854AC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503FD-97E5-E652-368C-59F8CE637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77D5A-7D99-47B2-9733-4AA040AA2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2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CFFBA-1B94-E8C2-B2C4-56AE02D31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5582093" cy="6858000"/>
          </a:xfrm>
          <a:prstGeom prst="rect">
            <a:avLst/>
          </a:prstGeom>
          <a:effectLst/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312789FF-EBF0-B2C0-FC94-C0C7718DA856}"/>
              </a:ext>
            </a:extLst>
          </p:cNvPr>
          <p:cNvSpPr/>
          <p:nvPr/>
        </p:nvSpPr>
        <p:spPr>
          <a:xfrm>
            <a:off x="4693920" y="0"/>
            <a:ext cx="2537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0000"/>
                </a:solidFill>
              </a:rPr>
              <a:t>             PROJECT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B21715D-93F5-967F-B57D-54E5CB6D55B4}"/>
              </a:ext>
            </a:extLst>
          </p:cNvPr>
          <p:cNvSpPr/>
          <p:nvPr/>
        </p:nvSpPr>
        <p:spPr>
          <a:xfrm>
            <a:off x="4420043" y="826770"/>
            <a:ext cx="585170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Climate-Aware Disease</a:t>
            </a:r>
            <a:endParaRPr lang="en-US" sz="4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Prediction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13D5EB7-34A2-B721-8CB8-AABD5EC9F4F4}"/>
              </a:ext>
            </a:extLst>
          </p:cNvPr>
          <p:cNvSpPr/>
          <p:nvPr/>
        </p:nvSpPr>
        <p:spPr>
          <a:xfrm>
            <a:off x="5009322" y="2564130"/>
            <a:ext cx="6749598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/>
              <a:t>Dengue Case Forecasting using Random Forest &amp; Climate Data</a:t>
            </a:r>
            <a:endParaRPr lang="en-US" sz="2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804BB15D-09A2-F085-BE03-05EA15B793D6}"/>
              </a:ext>
            </a:extLst>
          </p:cNvPr>
          <p:cNvSpPr/>
          <p:nvPr/>
        </p:nvSpPr>
        <p:spPr>
          <a:xfrm>
            <a:off x="11007003" y="5934456"/>
            <a:ext cx="1184997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SREERAG S </a:t>
            </a:r>
          </a:p>
        </p:txBody>
      </p:sp>
    </p:spTree>
    <p:extLst>
      <p:ext uri="{BB962C8B-B14F-4D97-AF65-F5344CB8AC3E}">
        <p14:creationId xmlns:p14="http://schemas.microsoft.com/office/powerpoint/2010/main" val="95320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66562E-9E4F-52D7-AA09-EAE5C2422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46"/>
          <a:stretch>
            <a:fillRect/>
          </a:stretch>
        </p:blipFill>
        <p:spPr>
          <a:xfrm>
            <a:off x="8124257" y="0"/>
            <a:ext cx="4067743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DAC4C8E-AB37-00DA-878E-951C521B1C4F}"/>
              </a:ext>
            </a:extLst>
          </p:cNvPr>
          <p:cNvSpPr/>
          <p:nvPr/>
        </p:nvSpPr>
        <p:spPr>
          <a:xfrm>
            <a:off x="420625" y="-27432"/>
            <a:ext cx="29643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PROJECT OVERVIEW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BEF67E1-C80A-9614-3023-D76FF612A1D6}"/>
              </a:ext>
            </a:extLst>
          </p:cNvPr>
          <p:cNvSpPr/>
          <p:nvPr/>
        </p:nvSpPr>
        <p:spPr>
          <a:xfrm>
            <a:off x="521779" y="92354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AA6B6B-0442-6E09-B7C7-E9DBEFE84BE5}"/>
              </a:ext>
            </a:extLst>
          </p:cNvPr>
          <p:cNvSpPr/>
          <p:nvPr/>
        </p:nvSpPr>
        <p:spPr>
          <a:xfrm>
            <a:off x="510541" y="1005840"/>
            <a:ext cx="56869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 fever is a climate-sensitive disease affecting millions. Traditional prediction methods are manual, slow, and inaccurate.</a:t>
            </a:r>
            <a:endParaRPr lang="en-US" sz="16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9703905-54A0-EA5A-00A6-18A1F30F4FE8}"/>
              </a:ext>
            </a:extLst>
          </p:cNvPr>
          <p:cNvSpPr/>
          <p:nvPr/>
        </p:nvSpPr>
        <p:spPr>
          <a:xfrm>
            <a:off x="510541" y="1911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A6A1529-135E-2434-975D-718F0449FB81}"/>
              </a:ext>
            </a:extLst>
          </p:cNvPr>
          <p:cNvSpPr/>
          <p:nvPr/>
        </p:nvSpPr>
        <p:spPr>
          <a:xfrm>
            <a:off x="510541" y="2020824"/>
            <a:ext cx="55854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to predict dengue cases using climate factors: rainfall, temperature, humidity, year, and state</a:t>
            </a: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5269A6F-4ACC-FC64-06BB-849D91A228F1}"/>
              </a:ext>
            </a:extLst>
          </p:cNvPr>
          <p:cNvSpPr/>
          <p:nvPr/>
        </p:nvSpPr>
        <p:spPr>
          <a:xfrm>
            <a:off x="521779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b="1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3178E7E-1B89-E31D-C1E8-1C736646A8B0}"/>
              </a:ext>
            </a:extLst>
          </p:cNvPr>
          <p:cNvSpPr/>
          <p:nvPr/>
        </p:nvSpPr>
        <p:spPr>
          <a:xfrm>
            <a:off x="521779" y="3063240"/>
            <a:ext cx="5285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with GridSearchCV hyperparameter tuning, preprocessing pipeline, and outlier removal.</a:t>
            </a:r>
            <a:endParaRPr lang="en-US" sz="16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9AD3B19E-EE57-1A4E-D3B4-58F62AD2384A}"/>
              </a:ext>
            </a:extLst>
          </p:cNvPr>
          <p:cNvSpPr/>
          <p:nvPr/>
        </p:nvSpPr>
        <p:spPr>
          <a:xfrm>
            <a:off x="510541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2BB771D-6DC7-221D-574F-2D1027EA1DB3}"/>
              </a:ext>
            </a:extLst>
          </p:cNvPr>
          <p:cNvSpPr/>
          <p:nvPr/>
        </p:nvSpPr>
        <p:spPr>
          <a:xfrm>
            <a:off x="510541" y="4178808"/>
            <a:ext cx="523284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data-driven system for early outbreak detection supporting public health planning and resource allocation.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2890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0"/>
            <a:ext cx="5120640" cy="664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00000"/>
                </a:solidFill>
              </a:rPr>
              <a:t>DATASET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&amp;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FEATURES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664464"/>
            <a:ext cx="5242560" cy="597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548640" y="740664"/>
            <a:ext cx="4876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n-US" sz="1867" b="1" dirty="0">
                <a:solidFill>
                  <a:srgbClr val="0D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551688" y="1341120"/>
            <a:ext cx="48768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670560" y="1320927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04160" y="1307973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Mergeddataset</a:t>
            </a:r>
            <a:r>
              <a:rPr lang="en-US" sz="1400" dirty="0"/>
              <a:t>.xlsx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118360"/>
            <a:ext cx="48768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0" name="Text 8"/>
          <p:cNvSpPr/>
          <p:nvPr/>
        </p:nvSpPr>
        <p:spPr>
          <a:xfrm>
            <a:off x="697992" y="2125218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Target</a:t>
            </a:r>
            <a:r>
              <a:rPr lang="en-US" sz="1400" b="1" dirty="0">
                <a:solidFill>
                  <a:srgbClr val="028090"/>
                </a:solidFill>
              </a:rPr>
              <a:t> </a:t>
            </a:r>
            <a:r>
              <a:rPr lang="en-US" sz="1600" b="1" dirty="0"/>
              <a:t>Variable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49880" y="2132076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Cases (Dengue Count)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917698"/>
            <a:ext cx="4876800" cy="4495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88848" y="2878074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States Covered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04160" y="2874264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Multiple Indian States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3623310"/>
            <a:ext cx="4876800" cy="5196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670560" y="3690366"/>
            <a:ext cx="1661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5872" y="3643122"/>
            <a:ext cx="26395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5 (Year, Rainfall, Temp, Humidity, State)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4447794"/>
            <a:ext cx="48768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97992" y="4432554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Split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1592" y="4432554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80% Train / 20% Test</a:t>
            </a:r>
          </a:p>
        </p:txBody>
      </p:sp>
      <p:sp>
        <p:nvSpPr>
          <p:cNvPr id="21" name="Shape 19"/>
          <p:cNvSpPr/>
          <p:nvPr/>
        </p:nvSpPr>
        <p:spPr>
          <a:xfrm>
            <a:off x="548640" y="5242560"/>
            <a:ext cx="48768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643128" y="5228844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Outliers Removed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13304" y="524256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Top 5% from training set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5998464"/>
            <a:ext cx="48768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643128" y="5998464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Missing</a:t>
            </a:r>
            <a:r>
              <a:rPr lang="en-US" sz="1400" b="1" dirty="0"/>
              <a:t> </a:t>
            </a:r>
            <a:r>
              <a:rPr lang="en-US" sz="1600" b="1" dirty="0"/>
              <a:t>Values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6248" y="6001512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Imputed</a:t>
            </a:r>
            <a:r>
              <a:rPr lang="en-US" sz="1400" dirty="0"/>
              <a:t> </a:t>
            </a:r>
            <a:r>
              <a:rPr lang="en-US" sz="1600" dirty="0"/>
              <a:t>with train mean</a:t>
            </a:r>
          </a:p>
        </p:txBody>
      </p:sp>
      <p:sp>
        <p:nvSpPr>
          <p:cNvPr id="27" name="Text 25"/>
          <p:cNvSpPr/>
          <p:nvPr/>
        </p:nvSpPr>
        <p:spPr>
          <a:xfrm>
            <a:off x="6217920" y="713232"/>
            <a:ext cx="5486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867" dirty="0"/>
          </a:p>
        </p:txBody>
      </p:sp>
      <p:sp>
        <p:nvSpPr>
          <p:cNvPr id="28" name="Shape 26"/>
          <p:cNvSpPr/>
          <p:nvPr/>
        </p:nvSpPr>
        <p:spPr>
          <a:xfrm>
            <a:off x="6153912" y="1365504"/>
            <a:ext cx="54864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6303264" y="134721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3349"/>
                </a:solidFill>
              </a:rPr>
              <a:t>Year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3264" y="1627632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070"/>
                </a:solidFill>
              </a:rPr>
              <a:t>Temporal trend indicator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3912" y="2410968"/>
            <a:ext cx="54864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4" name="Text 32"/>
          <p:cNvSpPr/>
          <p:nvPr/>
        </p:nvSpPr>
        <p:spPr>
          <a:xfrm>
            <a:off x="6303264" y="2410968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3349"/>
                </a:solidFill>
              </a:rPr>
              <a:t>Actual Rainfall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3264" y="2706624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070"/>
                </a:solidFill>
              </a:rPr>
              <a:t>Monthly/annual rainfall (mm</a:t>
            </a:r>
            <a:r>
              <a:rPr lang="en-US" sz="1333" dirty="0">
                <a:solidFill>
                  <a:srgbClr val="4A6070"/>
                </a:solidFill>
              </a:rPr>
              <a:t>)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6153912" y="3429000"/>
            <a:ext cx="54864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8" name="Text 36"/>
          <p:cNvSpPr/>
          <p:nvPr/>
        </p:nvSpPr>
        <p:spPr>
          <a:xfrm>
            <a:off x="6278880" y="3441192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3349"/>
                </a:solidFill>
              </a:rPr>
              <a:t>Temperature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3264" y="3730752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070"/>
                </a:solidFill>
              </a:rPr>
              <a:t>Avg ambient temperature (°C)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6104" y="4468368"/>
            <a:ext cx="54864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2" name="Text 40"/>
          <p:cNvSpPr/>
          <p:nvPr/>
        </p:nvSpPr>
        <p:spPr>
          <a:xfrm>
            <a:off x="6300216" y="4450080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3349"/>
                </a:solidFill>
              </a:rPr>
              <a:t>Humidity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21552" y="4760976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070"/>
                </a:solidFill>
              </a:rPr>
              <a:t>Relative humidity (%)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7920" y="5498592"/>
            <a:ext cx="54864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6" name="Text 44"/>
          <p:cNvSpPr/>
          <p:nvPr/>
        </p:nvSpPr>
        <p:spPr>
          <a:xfrm>
            <a:off x="6318504" y="5498592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3349"/>
                </a:solidFill>
              </a:rPr>
              <a:t>State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18504" y="5797296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6070"/>
                </a:solidFill>
              </a:rPr>
              <a:t>Geographical region (encoded)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1376" y="-12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00000"/>
                </a:solidFill>
              </a:rPr>
              <a:t>SYSTEM ARCHITECTURE / PIPELINE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41376" y="115824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1255776" y="130454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1255776" y="130454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01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63296" y="210921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Load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296" y="264566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Read Mergeddataset.xlsx</a:t>
            </a:r>
          </a:p>
          <a:p>
            <a:pPr algn="ctr"/>
            <a:r>
              <a:rPr lang="en-US" sz="1267" dirty="0"/>
              <a:t>Filter 'Total' rows</a:t>
            </a:r>
          </a:p>
        </p:txBody>
      </p:sp>
      <p:sp>
        <p:nvSpPr>
          <p:cNvPr id="9" name="Shape 7"/>
          <p:cNvSpPr/>
          <p:nvPr/>
        </p:nvSpPr>
        <p:spPr>
          <a:xfrm>
            <a:off x="2926080" y="2218944"/>
            <a:ext cx="268224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3243072" y="115824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Shape 9"/>
          <p:cNvSpPr/>
          <p:nvPr/>
        </p:nvSpPr>
        <p:spPr>
          <a:xfrm>
            <a:off x="4157472" y="130454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4157472" y="130454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02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64992" y="210921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D3349"/>
                </a:solidFill>
              </a:rPr>
              <a:t>Train/Test Split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264566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80% Train</a:t>
            </a:r>
          </a:p>
          <a:p>
            <a:pPr algn="ctr"/>
            <a:r>
              <a:rPr lang="en-US" sz="1267" dirty="0"/>
              <a:t>20% Test</a:t>
            </a:r>
          </a:p>
        </p:txBody>
      </p:sp>
      <p:sp>
        <p:nvSpPr>
          <p:cNvPr id="15" name="Shape 13"/>
          <p:cNvSpPr/>
          <p:nvPr/>
        </p:nvSpPr>
        <p:spPr>
          <a:xfrm>
            <a:off x="5827776" y="2218944"/>
            <a:ext cx="268224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Shape 14"/>
          <p:cNvSpPr/>
          <p:nvPr/>
        </p:nvSpPr>
        <p:spPr>
          <a:xfrm>
            <a:off x="6144768" y="115824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7059168" y="130454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7059168" y="130454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03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6688" y="210921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Outlier Removal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6688" y="264566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Remove top 5%</a:t>
            </a:r>
          </a:p>
          <a:p>
            <a:pPr algn="ctr"/>
            <a:r>
              <a:rPr lang="en-US" sz="1267" dirty="0"/>
              <a:t>from training only</a:t>
            </a:r>
          </a:p>
        </p:txBody>
      </p:sp>
      <p:sp>
        <p:nvSpPr>
          <p:cNvPr id="21" name="Shape 19"/>
          <p:cNvSpPr/>
          <p:nvPr/>
        </p:nvSpPr>
        <p:spPr>
          <a:xfrm>
            <a:off x="8729472" y="2218944"/>
            <a:ext cx="268224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Shape 20"/>
          <p:cNvSpPr/>
          <p:nvPr/>
        </p:nvSpPr>
        <p:spPr>
          <a:xfrm>
            <a:off x="9046464" y="115824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Shape 21"/>
          <p:cNvSpPr/>
          <p:nvPr/>
        </p:nvSpPr>
        <p:spPr>
          <a:xfrm>
            <a:off x="9960864" y="130454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9960864" y="130454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04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68384" y="210921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Impute Missing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68384" y="264566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Fill NaN with</a:t>
            </a:r>
          </a:p>
          <a:p>
            <a:pPr algn="ctr"/>
            <a:r>
              <a:rPr lang="en-US" sz="1267" dirty="0"/>
              <a:t>train column mean</a:t>
            </a:r>
          </a:p>
        </p:txBody>
      </p:sp>
      <p:sp>
        <p:nvSpPr>
          <p:cNvPr id="27" name="Shape 25"/>
          <p:cNvSpPr/>
          <p:nvPr/>
        </p:nvSpPr>
        <p:spPr>
          <a:xfrm>
            <a:off x="341376" y="377952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8" name="Shape 26"/>
          <p:cNvSpPr/>
          <p:nvPr/>
        </p:nvSpPr>
        <p:spPr>
          <a:xfrm>
            <a:off x="1255776" y="392582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1255776" y="392582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05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3296" y="473049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Preprocessing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3296" y="526694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OneHotEncode State</a:t>
            </a:r>
          </a:p>
          <a:p>
            <a:pPr algn="ctr"/>
            <a:r>
              <a:rPr lang="en-US" sz="1267" dirty="0"/>
              <a:t>Pass-through numerics</a:t>
            </a:r>
          </a:p>
        </p:txBody>
      </p:sp>
      <p:sp>
        <p:nvSpPr>
          <p:cNvPr id="32" name="Shape 30"/>
          <p:cNvSpPr/>
          <p:nvPr/>
        </p:nvSpPr>
        <p:spPr>
          <a:xfrm>
            <a:off x="2926080" y="4840224"/>
            <a:ext cx="268224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3" name="Shape 31"/>
          <p:cNvSpPr/>
          <p:nvPr/>
        </p:nvSpPr>
        <p:spPr>
          <a:xfrm>
            <a:off x="3243072" y="377952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4" name="Shape 32"/>
          <p:cNvSpPr/>
          <p:nvPr/>
        </p:nvSpPr>
        <p:spPr>
          <a:xfrm>
            <a:off x="4157472" y="392582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4157472" y="392582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06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64992" y="473049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Model Training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64992" y="526694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Random Forest +</a:t>
            </a:r>
          </a:p>
          <a:p>
            <a:pPr algn="ctr"/>
            <a:r>
              <a:rPr lang="en-US" sz="1267" dirty="0"/>
              <a:t>GridSearchCV (cv=5)</a:t>
            </a:r>
          </a:p>
        </p:txBody>
      </p:sp>
      <p:sp>
        <p:nvSpPr>
          <p:cNvPr id="38" name="Shape 36"/>
          <p:cNvSpPr/>
          <p:nvPr/>
        </p:nvSpPr>
        <p:spPr>
          <a:xfrm>
            <a:off x="5827776" y="4840224"/>
            <a:ext cx="268224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9" name="Shape 37"/>
          <p:cNvSpPr/>
          <p:nvPr/>
        </p:nvSpPr>
        <p:spPr>
          <a:xfrm>
            <a:off x="6144768" y="377952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0" name="Shape 38"/>
          <p:cNvSpPr/>
          <p:nvPr/>
        </p:nvSpPr>
        <p:spPr>
          <a:xfrm>
            <a:off x="7059168" y="392582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Text 39"/>
          <p:cNvSpPr/>
          <p:nvPr/>
        </p:nvSpPr>
        <p:spPr>
          <a:xfrm>
            <a:off x="7059168" y="392582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07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66688" y="473049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Evaluation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66688" y="526694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R² Score</a:t>
            </a:r>
          </a:p>
          <a:p>
            <a:pPr algn="ctr"/>
            <a:r>
              <a:rPr lang="en-US" sz="1267" dirty="0"/>
              <a:t>MAE Metrics</a:t>
            </a:r>
          </a:p>
        </p:txBody>
      </p:sp>
      <p:sp>
        <p:nvSpPr>
          <p:cNvPr id="44" name="Shape 42"/>
          <p:cNvSpPr/>
          <p:nvPr/>
        </p:nvSpPr>
        <p:spPr>
          <a:xfrm>
            <a:off x="8729472" y="4840224"/>
            <a:ext cx="268224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5" name="Shape 43"/>
          <p:cNvSpPr/>
          <p:nvPr/>
        </p:nvSpPr>
        <p:spPr>
          <a:xfrm>
            <a:off x="9046464" y="3779520"/>
            <a:ext cx="256032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6" name="Shape 44"/>
          <p:cNvSpPr/>
          <p:nvPr/>
        </p:nvSpPr>
        <p:spPr>
          <a:xfrm>
            <a:off x="9960864" y="3925824"/>
            <a:ext cx="670560" cy="670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7" name="Text 45"/>
          <p:cNvSpPr/>
          <p:nvPr/>
        </p:nvSpPr>
        <p:spPr>
          <a:xfrm>
            <a:off x="9960864" y="3925824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C00000"/>
                </a:solidFill>
              </a:rPr>
              <a:t>08</a:t>
            </a:r>
            <a:endParaRPr lang="en-US" sz="1467" dirty="0">
              <a:solidFill>
                <a:srgbClr val="C0000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68384" y="4730496"/>
            <a:ext cx="231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Prediction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68384" y="5266944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/>
              <a:t>Manual input for</a:t>
            </a:r>
          </a:p>
          <a:p>
            <a:pPr algn="ctr"/>
            <a:r>
              <a:rPr lang="en-US" sz="1267" dirty="0"/>
              <a:t>new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-10363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00000"/>
                </a:solidFill>
              </a:rPr>
              <a:t>MACHINE LEARNING MODEL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158240"/>
            <a:ext cx="548640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609600" y="134112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Random Forest Regressor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1975104"/>
            <a:ext cx="4998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method that builds multiple decision trees and averages their predictions to reduce overfitting.</a:t>
            </a:r>
            <a:endParaRPr lang="en-US" sz="1533" dirty="0"/>
          </a:p>
        </p:txBody>
      </p:sp>
      <p:sp>
        <p:nvSpPr>
          <p:cNvPr id="7" name="Text 5"/>
          <p:cNvSpPr/>
          <p:nvPr/>
        </p:nvSpPr>
        <p:spPr>
          <a:xfrm>
            <a:off x="609600" y="2926080"/>
            <a:ext cx="4998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Handles both numerical and categorical (encoded) features seamlessly.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609600" y="3877056"/>
            <a:ext cx="4998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non-linear relationships in the data.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609600" y="4828032"/>
            <a:ext cx="4998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 help identify key predictors of dengue outbreaks</a:t>
            </a:r>
            <a:r>
              <a:rPr lang="en-US" sz="1533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33" dirty="0"/>
          </a:p>
        </p:txBody>
      </p:sp>
      <p:sp>
        <p:nvSpPr>
          <p:cNvPr id="10" name="Shape 8"/>
          <p:cNvSpPr/>
          <p:nvPr/>
        </p:nvSpPr>
        <p:spPr>
          <a:xfrm>
            <a:off x="6339840" y="1158240"/>
            <a:ext cx="548640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559296" y="134112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05E40"/>
                </a:solidFill>
              </a:rPr>
              <a:t>GridSearchCV Parameters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59296" y="2048256"/>
            <a:ext cx="4998720" cy="548640"/>
          </a:xfrm>
          <a:prstGeom prst="rect">
            <a:avLst/>
          </a:prstGeom>
          <a:solidFill>
            <a:srgbClr val="FFF4F2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705600" y="2048256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3349"/>
                </a:solidFill>
              </a:rPr>
              <a:t>n_estimators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9631680" y="20482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05E40"/>
                </a:solidFill>
              </a:rPr>
              <a:t>[200, 500]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559296" y="2718816"/>
            <a:ext cx="499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6705600" y="2718816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3349"/>
                </a:solidFill>
              </a:rPr>
              <a:t>max_depth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9631680" y="27188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05E40"/>
                </a:solidFill>
              </a:rPr>
              <a:t>[None, 10, 20]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559296" y="3389376"/>
            <a:ext cx="4998720" cy="548640"/>
          </a:xfrm>
          <a:prstGeom prst="rect">
            <a:avLst/>
          </a:prstGeom>
          <a:solidFill>
            <a:srgbClr val="FFF4F2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705600" y="3389376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3349"/>
                </a:solidFill>
              </a:rPr>
              <a:t>min_samples_split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9631680" y="3389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05E40"/>
                </a:solidFill>
              </a:rPr>
              <a:t>[2, 5]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559296" y="4059936"/>
            <a:ext cx="499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6705600" y="4059936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3349"/>
                </a:solidFill>
              </a:rPr>
              <a:t>cv (folds)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9631680" y="40599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05E40"/>
                </a:solidFill>
              </a:rPr>
              <a:t>5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559296" y="4730496"/>
            <a:ext cx="4998720" cy="548640"/>
          </a:xfrm>
          <a:prstGeom prst="rect">
            <a:avLst/>
          </a:prstGeom>
          <a:solidFill>
            <a:srgbClr val="FFF4F2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6705600" y="4730496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3349"/>
                </a:solidFill>
              </a:rPr>
              <a:t>scoring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9631680" y="4730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05E40"/>
                </a:solidFill>
              </a:rPr>
              <a:t>R² Score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6559296" y="5401056"/>
            <a:ext cx="499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Text 26"/>
          <p:cNvSpPr/>
          <p:nvPr/>
        </p:nvSpPr>
        <p:spPr>
          <a:xfrm>
            <a:off x="6705600" y="5401056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3349"/>
                </a:solidFill>
              </a:rPr>
              <a:t>n_jobs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9631680" y="540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F05E40"/>
                </a:solidFill>
              </a:rPr>
              <a:t>-1 (all cores)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6559296" y="6096000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4A6070"/>
                </a:solidFill>
              </a:rPr>
              <a:t>Pipeline: Preprocessor → Random Forest Model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1376" y="-10972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00000"/>
                </a:solidFill>
              </a:rPr>
              <a:t>CODE</a:t>
            </a:r>
            <a:r>
              <a:rPr lang="en-US" sz="2667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WALKTHROUGH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41376" y="1121664"/>
            <a:ext cx="5486400" cy="262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6" name="Text 4"/>
          <p:cNvSpPr/>
          <p:nvPr/>
        </p:nvSpPr>
        <p:spPr>
          <a:xfrm>
            <a:off x="487680" y="1121664"/>
            <a:ext cx="51937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/>
              <a:t>Data Loading &amp; Cleaning</a:t>
            </a:r>
            <a:endParaRPr lang="en-US" sz="1533" dirty="0"/>
          </a:p>
        </p:txBody>
      </p:sp>
      <p:sp>
        <p:nvSpPr>
          <p:cNvPr id="7" name="Shape 5"/>
          <p:cNvSpPr/>
          <p:nvPr/>
        </p:nvSpPr>
        <p:spPr>
          <a:xfrm>
            <a:off x="463296" y="1670304"/>
            <a:ext cx="5242560" cy="121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560832" y="1731264"/>
            <a:ext cx="505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pd.read_excel("Mergeddataset.xlsx")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df[df["State"] != "Total"]</a:t>
            </a:r>
            <a:endParaRPr lang="en-US" sz="1267" dirty="0"/>
          </a:p>
        </p:txBody>
      </p:sp>
      <p:sp>
        <p:nvSpPr>
          <p:cNvPr id="9" name="Text 7"/>
          <p:cNvSpPr/>
          <p:nvPr/>
        </p:nvSpPr>
        <p:spPr>
          <a:xfrm>
            <a:off x="487680" y="3011424"/>
            <a:ext cx="519379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4A6070"/>
                </a:solidFill>
              </a:rPr>
              <a:t>→ Removes summary rows that would corrupt model training.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254496" y="1121664"/>
            <a:ext cx="5486400" cy="262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6400800" y="1121664"/>
            <a:ext cx="51937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/>
              <a:t>Outlier Removal (Train Only)</a:t>
            </a:r>
            <a:endParaRPr lang="en-US" sz="1533" dirty="0"/>
          </a:p>
        </p:txBody>
      </p:sp>
      <p:sp>
        <p:nvSpPr>
          <p:cNvPr id="13" name="Shape 11"/>
          <p:cNvSpPr/>
          <p:nvPr/>
        </p:nvSpPr>
        <p:spPr>
          <a:xfrm>
            <a:off x="6376416" y="1670304"/>
            <a:ext cx="5242560" cy="121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6473952" y="1731264"/>
            <a:ext cx="505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y_train.quantile(0.95)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mask = y_train &lt;= upper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X_train[mask]</a:t>
            </a:r>
            <a:endParaRPr lang="en-US" sz="1267" dirty="0"/>
          </a:p>
        </p:txBody>
      </p:sp>
      <p:sp>
        <p:nvSpPr>
          <p:cNvPr id="15" name="Text 13"/>
          <p:cNvSpPr/>
          <p:nvPr/>
        </p:nvSpPr>
        <p:spPr>
          <a:xfrm>
            <a:off x="6400800" y="3011424"/>
            <a:ext cx="519379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4A6070"/>
                </a:solidFill>
              </a:rPr>
              <a:t>→ Prevents extreme cases from skewing the regression model.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341376" y="3986784"/>
            <a:ext cx="5486400" cy="262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487680" y="3986784"/>
            <a:ext cx="51937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/>
              <a:t>Preprocessing Pipeline</a:t>
            </a:r>
            <a:endParaRPr lang="en-US" sz="1533" dirty="0"/>
          </a:p>
        </p:txBody>
      </p:sp>
      <p:sp>
        <p:nvSpPr>
          <p:cNvPr id="19" name="Shape 17"/>
          <p:cNvSpPr/>
          <p:nvPr/>
        </p:nvSpPr>
        <p:spPr>
          <a:xfrm>
            <a:off x="463296" y="4535424"/>
            <a:ext cx="5242560" cy="121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560832" y="4596384"/>
            <a:ext cx="505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 = ColumnTransformer([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("cat", OneHotEncoder(), ["State"])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], remainder="passthrough")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487680" y="5876544"/>
            <a:ext cx="519379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4A6070"/>
                </a:solidFill>
              </a:rPr>
              <a:t>→ Encodes state names; passes numeric features unchanged.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254496" y="3986784"/>
            <a:ext cx="5486400" cy="262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E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6400800" y="3986784"/>
            <a:ext cx="51937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/>
              <a:t>Grid Search &amp; Training</a:t>
            </a:r>
            <a:endParaRPr lang="en-US" sz="1533" dirty="0"/>
          </a:p>
        </p:txBody>
      </p:sp>
      <p:sp>
        <p:nvSpPr>
          <p:cNvPr id="25" name="Shape 23"/>
          <p:cNvSpPr/>
          <p:nvPr/>
        </p:nvSpPr>
        <p:spPr>
          <a:xfrm>
            <a:off x="6376416" y="4535424"/>
            <a:ext cx="5242560" cy="121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r>
              <a:rPr lang="en-IN" sz="2400" dirty="0"/>
              <a:t>   </a:t>
            </a:r>
          </a:p>
        </p:txBody>
      </p:sp>
      <p:sp>
        <p:nvSpPr>
          <p:cNvPr id="26" name="Text 24"/>
          <p:cNvSpPr/>
          <p:nvPr/>
        </p:nvSpPr>
        <p:spPr>
          <a:xfrm>
            <a:off x="6473952" y="4596384"/>
            <a:ext cx="505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grid_search = GridSearchCV(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pipeline, param_grid, cv=5, scoring="r2"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67" dirty="0"/>
          </a:p>
          <a:p>
            <a:r>
              <a:rPr lang="en-US" sz="12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grid_search.fit(X_train, y_train)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6400800" y="5876544"/>
            <a:ext cx="519379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4A6070"/>
                </a:solidFill>
              </a:rPr>
              <a:t>→ Finds optimal hyperparameters using 5-fold cross-validation.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-133350"/>
            <a:ext cx="10972800" cy="97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00000"/>
                </a:solidFill>
              </a:rPr>
              <a:t>DENGUE CASES TREND OVER YEARS</a:t>
            </a:r>
          </a:p>
        </p:txBody>
      </p:sp>
      <p:sp>
        <p:nvSpPr>
          <p:cNvPr id="8" name="Text 4"/>
          <p:cNvSpPr/>
          <p:nvPr/>
        </p:nvSpPr>
        <p:spPr>
          <a:xfrm>
            <a:off x="8430587" y="1471803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Yearly Trend Graph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30587" y="1831848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6070"/>
                </a:solidFill>
              </a:rPr>
              <a:t>Line plot showing total dengue cases per year to visualize epidemic cycles and climate correlation.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2895B6-1C86-3560-BD83-6FBA1D180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3" y="609599"/>
            <a:ext cx="8287712" cy="5543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EAAA914-026B-F1E2-E8DB-4C2D2F243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8" y="914399"/>
            <a:ext cx="8182937" cy="4962525"/>
          </a:xfrm>
          <a:prstGeom prst="rect">
            <a:avLst/>
          </a:prstGeom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21EA020A-D95B-54C5-FF95-D64E01B8392F}"/>
              </a:ext>
            </a:extLst>
          </p:cNvPr>
          <p:cNvSpPr/>
          <p:nvPr/>
        </p:nvSpPr>
        <p:spPr>
          <a:xfrm>
            <a:off x="8343902" y="178291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6070"/>
                </a:solidFill>
              </a:rPr>
              <a:t>Overlay line chart comparing ground truth vs model predictions on the test set.</a:t>
            </a:r>
            <a:endParaRPr lang="en-US" sz="1400" dirty="0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C01B8C27-63E7-6AE7-13EB-96E37630FCD0}"/>
              </a:ext>
            </a:extLst>
          </p:cNvPr>
          <p:cNvSpPr/>
          <p:nvPr/>
        </p:nvSpPr>
        <p:spPr>
          <a:xfrm>
            <a:off x="8343902" y="1569554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Actual vs Predicted</a:t>
            </a:r>
            <a:endParaRPr lang="en-US" sz="1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C86CCD7-F684-55FC-8520-7D85B8708460}"/>
              </a:ext>
            </a:extLst>
          </p:cNvPr>
          <p:cNvSpPr/>
          <p:nvPr/>
        </p:nvSpPr>
        <p:spPr>
          <a:xfrm>
            <a:off x="440055" y="-15087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>
                <a:solidFill>
                  <a:srgbClr val="C00000"/>
                </a:solidFill>
              </a:rPr>
              <a:t>MODEL PERFORMANCE: ACTUAL VS PREDICTED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784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/>
          <p:cNvSpPr/>
          <p:nvPr/>
        </p:nvSpPr>
        <p:spPr>
          <a:xfrm>
            <a:off x="8534400" y="1706499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Feature Importance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534400" y="1919859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6070"/>
                </a:solidFill>
              </a:rPr>
              <a:t>Horizontal bar chart revealing which features most influence the Random Forest model.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1C26F-B836-CEC4-86DC-815F6F09E5B6}"/>
              </a:ext>
            </a:extLst>
          </p:cNvPr>
          <p:cNvSpPr txBox="1"/>
          <p:nvPr/>
        </p:nvSpPr>
        <p:spPr>
          <a:xfrm>
            <a:off x="704850" y="1524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KEY FACTORS AFFECTING DENGUE CASES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FF90A-3B14-2F1E-1DA8-E7E247A3F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4375"/>
            <a:ext cx="8362950" cy="608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33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7576" y="-97536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00000"/>
                </a:solidFill>
              </a:rPr>
              <a:t>SYSTEM ANALYSIS: EXISTING vs PROPOSED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72896"/>
            <a:ext cx="5364480" cy="6339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94B3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365760" y="1072896"/>
            <a:ext cx="53644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⚠</a:t>
            </a:r>
            <a:r>
              <a:rPr lang="en-US" sz="1867" b="1" dirty="0">
                <a:solidFill>
                  <a:srgbClr val="FFFFFF"/>
                </a:solidFill>
              </a:rPr>
              <a:t>  </a:t>
            </a:r>
            <a:r>
              <a:rPr lang="en-US" sz="1867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Existing System</a:t>
            </a:r>
            <a:endParaRPr lang="en-US" sz="1867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61760" y="1072896"/>
            <a:ext cx="5364480" cy="633984"/>
          </a:xfrm>
          <a:prstGeom prst="rect">
            <a:avLst/>
          </a:prstGeom>
          <a:solidFill>
            <a:srgbClr val="FF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6461760" y="1072896"/>
            <a:ext cx="53644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✓  Proposed System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365760" y="1853184"/>
            <a:ext cx="5364480" cy="707136"/>
          </a:xfrm>
          <a:prstGeom prst="rect">
            <a:avLst/>
          </a:prstGeom>
          <a:solidFill>
            <a:srgbClr val="FFF0EE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585216" y="1853184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Manual statistical analysis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461760" y="1853184"/>
            <a:ext cx="5364480" cy="707136"/>
          </a:xfrm>
          <a:prstGeom prst="rect">
            <a:avLst/>
          </a:prstGeom>
          <a:solidFill>
            <a:schemeClr val="bg1"/>
          </a:solidFill>
          <a:ln w="12700">
            <a:solidFill>
              <a:srgbClr val="C8E8E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681216" y="1853184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Automated ML-based prediction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365760" y="2657856"/>
            <a:ext cx="5364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585216" y="2657856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Relies on retrospective data only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461760" y="2657856"/>
            <a:ext cx="5364480" cy="707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8E8E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6681216" y="2657856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Uses historical + real-time climate data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365760" y="3462528"/>
            <a:ext cx="5364480" cy="707136"/>
          </a:xfrm>
          <a:prstGeom prst="rect">
            <a:avLst/>
          </a:prstGeom>
          <a:solidFill>
            <a:srgbClr val="FFF0EE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585216" y="3462528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Cannot detect complex patterns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461760" y="3462528"/>
            <a:ext cx="5364480" cy="707136"/>
          </a:xfrm>
          <a:prstGeom prst="rect">
            <a:avLst/>
          </a:prstGeom>
          <a:solidFill>
            <a:schemeClr val="bg1"/>
          </a:solidFill>
          <a:ln w="12700">
            <a:solidFill>
              <a:srgbClr val="C8E8E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681216" y="3462528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Random Forest captures non-linear patterns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365760" y="4267200"/>
            <a:ext cx="5364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585216" y="4267200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Time-consuming and error-prone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6461760" y="4267200"/>
            <a:ext cx="5364480" cy="707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8E8E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6681216" y="4267200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Fast, consistent, and repeatable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365760" y="5071872"/>
            <a:ext cx="5364480" cy="707136"/>
          </a:xfrm>
          <a:prstGeom prst="rect">
            <a:avLst/>
          </a:prstGeom>
          <a:solidFill>
            <a:srgbClr val="FFF0EE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585216" y="5071872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No multi-factor integration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6461760" y="5071872"/>
            <a:ext cx="5364480" cy="707136"/>
          </a:xfrm>
          <a:prstGeom prst="rect">
            <a:avLst/>
          </a:prstGeom>
          <a:solidFill>
            <a:schemeClr val="bg1"/>
          </a:solidFill>
          <a:ln w="12700">
            <a:solidFill>
              <a:srgbClr val="C8E8E3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7" name="Text 25"/>
          <p:cNvSpPr/>
          <p:nvPr/>
        </p:nvSpPr>
        <p:spPr>
          <a:xfrm>
            <a:off x="6681216" y="5071872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Integrates rainfall, temperature, humidity &amp; state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365760" y="5876544"/>
            <a:ext cx="536448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585216" y="5876544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Delayed outbreak response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6461760" y="5876544"/>
            <a:ext cx="5364480" cy="707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8E8E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1" name="Text 29"/>
          <p:cNvSpPr/>
          <p:nvPr/>
        </p:nvSpPr>
        <p:spPr>
          <a:xfrm>
            <a:off x="6681216" y="5876544"/>
            <a:ext cx="4937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6070"/>
                </a:solidFill>
              </a:rPr>
              <a:t>Early outbreak detection &amp; forecasting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5673090" y="3048000"/>
            <a:ext cx="877824" cy="87782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3" name="Text 31"/>
          <p:cNvSpPr/>
          <p:nvPr/>
        </p:nvSpPr>
        <p:spPr>
          <a:xfrm>
            <a:off x="5657088" y="304800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4825" y="12192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533" dirty="0">
                <a:solidFill>
                  <a:srgbClr val="C00000"/>
                </a:solidFill>
              </a:rPr>
              <a:t>CONCLUSION &amp; LEARNINGS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097280"/>
            <a:ext cx="670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C00000"/>
                </a:solidFill>
              </a:rPr>
              <a:t>Key Takeaways</a:t>
            </a:r>
            <a:endParaRPr lang="en-US" sz="2933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767840"/>
            <a:ext cx="7071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Random Forest model that predicts dengue outbreaks using climate and location data.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694432"/>
            <a:ext cx="7071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R² and low MAE through proper data preprocessing, outlier removal, and hyperparameter tuning.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621024"/>
            <a:ext cx="7071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the full data science lifecycle: data loading, cleaning, feature engineering, modeling, and evaluation.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547616"/>
            <a:ext cx="7071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year were found to be the most influential predictors — geography and temporal trends matter most.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5474208"/>
            <a:ext cx="7071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manual prediction for any Indian state, providing a practical public health decision tool.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072896"/>
            <a:ext cx="3779520" cy="5388864"/>
          </a:xfrm>
          <a:prstGeom prst="rect">
            <a:avLst/>
          </a:prstGeom>
          <a:solidFill>
            <a:schemeClr val="accent2">
              <a:lumMod val="20000"/>
              <a:lumOff val="80000"/>
              <a:alpha val="12000"/>
            </a:scheme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2" name="Text 10"/>
          <p:cNvSpPr/>
          <p:nvPr/>
        </p:nvSpPr>
        <p:spPr>
          <a:xfrm>
            <a:off x="8290560" y="1219200"/>
            <a:ext cx="3291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Skills Gained</a:t>
            </a:r>
            <a:endParaRPr lang="en-US" sz="1867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90560" y="1853184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412480" y="1853184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Python &amp; Scikit-learn</a:t>
            </a:r>
          </a:p>
        </p:txBody>
      </p:sp>
      <p:sp>
        <p:nvSpPr>
          <p:cNvPr id="15" name="Shape 13"/>
          <p:cNvSpPr/>
          <p:nvPr/>
        </p:nvSpPr>
        <p:spPr>
          <a:xfrm>
            <a:off x="8290560" y="2438400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412480" y="2438400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Pandas / NumPy</a:t>
            </a:r>
          </a:p>
        </p:txBody>
      </p:sp>
      <p:sp>
        <p:nvSpPr>
          <p:cNvPr id="17" name="Shape 15"/>
          <p:cNvSpPr/>
          <p:nvPr/>
        </p:nvSpPr>
        <p:spPr>
          <a:xfrm>
            <a:off x="8290560" y="3023616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8412480" y="3023616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Machine Learning</a:t>
            </a:r>
          </a:p>
        </p:txBody>
      </p:sp>
      <p:sp>
        <p:nvSpPr>
          <p:cNvPr id="19" name="Shape 17"/>
          <p:cNvSpPr/>
          <p:nvPr/>
        </p:nvSpPr>
        <p:spPr>
          <a:xfrm>
            <a:off x="8290560" y="3608832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8412480" y="3608832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Preprocessing</a:t>
            </a:r>
          </a:p>
        </p:txBody>
      </p:sp>
      <p:sp>
        <p:nvSpPr>
          <p:cNvPr id="21" name="Shape 19"/>
          <p:cNvSpPr/>
          <p:nvPr/>
        </p:nvSpPr>
        <p:spPr>
          <a:xfrm>
            <a:off x="8290560" y="4194048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8412480" y="4194048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GridSearchCV Tuning</a:t>
            </a:r>
          </a:p>
        </p:txBody>
      </p:sp>
      <p:sp>
        <p:nvSpPr>
          <p:cNvPr id="23" name="Shape 21"/>
          <p:cNvSpPr/>
          <p:nvPr/>
        </p:nvSpPr>
        <p:spPr>
          <a:xfrm>
            <a:off x="8290560" y="4779264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8412480" y="4779264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Matplotlib Visualization</a:t>
            </a:r>
          </a:p>
        </p:txBody>
      </p:sp>
      <p:sp>
        <p:nvSpPr>
          <p:cNvPr id="25" name="Shape 23"/>
          <p:cNvSpPr/>
          <p:nvPr/>
        </p:nvSpPr>
        <p:spPr>
          <a:xfrm>
            <a:off x="8290560" y="5364480"/>
            <a:ext cx="3291840" cy="438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8412480" y="5364480"/>
            <a:ext cx="316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790</Words>
  <Application>Microsoft Office PowerPoint</Application>
  <PresentationFormat>Widescreen</PresentationFormat>
  <Paragraphs>163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Sreerag Srinu</dc:creator>
  <cp:lastModifiedBy>Sreerag Srinu</cp:lastModifiedBy>
  <cp:revision>24</cp:revision>
  <dcterms:created xsi:type="dcterms:W3CDTF">2026-04-17T11:59:02Z</dcterms:created>
  <dcterms:modified xsi:type="dcterms:W3CDTF">2026-04-19T12:33:15Z</dcterms:modified>
</cp:coreProperties>
</file>